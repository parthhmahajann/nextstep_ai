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346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907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0" y="0"/>
            <a:ext cx="4572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0" y="274320"/>
            <a:ext cx="1463040" cy="146304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2926080"/>
            <a:ext cx="2011680" cy="2011680"/>
          </a:xfrm>
          <a:prstGeom prst="ellipse">
            <a:avLst/>
          </a:prstGeom>
          <a:solidFill>
            <a:srgbClr val="1E88E5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46720" y="1645920"/>
            <a:ext cx="731520" cy="731520"/>
          </a:xfrm>
          <a:prstGeom prst="ellipse">
            <a:avLst/>
          </a:prstGeom>
          <a:solidFill>
            <a:srgbClr val="BBDEFB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822960"/>
            <a:ext cx="228600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822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PRESENTATION  2  —  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123444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NextStep AI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274320" y="239572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 &amp;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4297680"/>
            <a:ext cx="6492240" cy="84582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436168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E"/>
                </a:solidFill>
              </a:rPr>
              <a:t>Name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" y="4608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Parth Mahajan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01368" y="436168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E"/>
                </a:solidFill>
              </a:rPr>
              <a:t>Roll No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01368" y="4608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2023BTCSE012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74136" y="436168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E"/>
                </a:solidFill>
              </a:rPr>
              <a:t>JLU ID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74136" y="4608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JLU08052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46904" y="436168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E"/>
                </a:solidFill>
              </a:rPr>
              <a:t>Subject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46904" y="4608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- 2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 &amp; OBJECTIVES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NextStep AI  |  Parth Mahajan  |  2023BTCSE012  |  JLU08052  |  Project - 2  |  Presentation - 2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66426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397764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960120"/>
            <a:ext cx="64008" cy="37947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005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1572768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517904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publicly listed jobs from multiple online job boards into one unified feed.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2139696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084832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jobs in an interactive swipe-based UI  for faster discovery.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" y="270662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5176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05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(</a:t>
            </a:r>
            <a:r>
              <a:rPr lang="en-IN" sz="1050" dirty="0"/>
              <a:t>llama-3.1-8b-instant) </a:t>
            </a: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tailored resumes and cover emails per job.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" y="3273552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18688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one-click job application with pre-filled AI-generated documents.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" y="384048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785616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user profile management with base resume upload and skill tagging.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960120"/>
            <a:ext cx="4389120" cy="379476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960120"/>
            <a:ext cx="438912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BD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1536192"/>
            <a:ext cx="347472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84064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BD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Job Search 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84064" y="18105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listings so users spend time applying, not searching.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45152" y="2340864"/>
            <a:ext cx="347472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4645152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84064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BD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 Applications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84064" y="26151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AI-tailored resumes increase recruiter response rates.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45152" y="3145536"/>
            <a:ext cx="347472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84064" y="3136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BD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Apply Flow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84064" y="34198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application effort from 30 min to under 2 minutes.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45152" y="3950208"/>
            <a:ext cx="347472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9" name="Text 37"/>
          <p:cNvSpPr/>
          <p:nvPr/>
        </p:nvSpPr>
        <p:spPr>
          <a:xfrm>
            <a:off x="4645152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84064" y="3941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BD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Architecture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84064" y="4224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scrapers that grow with new job board sources.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USER &amp; JOB MANAGEMENT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NextStep AI  |  Parth Mahajan  |  2023BTCSE012  |  JLU08052  |  Project - 2  |  Presentation - 2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41605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4160520" cy="42062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9601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536192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5361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with email &amp; password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1984248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066544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06654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FR-02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9728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/ logout with session management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2514600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596896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5968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FR-03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97280" y="2542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creation: name, skills, experience, education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3044952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127248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12724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FR-04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97280" y="3072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resume upload (PDF / DOCX) with auto-parsing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" y="3575304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657600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36576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FR-05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97280" y="36027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settings: role type, location, salary range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" y="4105656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4187952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41879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FR-06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97280" y="4133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swipe history (liked / skipped jobs)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966426"/>
            <a:ext cx="41605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6" name="Shape 34"/>
          <p:cNvSpPr/>
          <p:nvPr/>
        </p:nvSpPr>
        <p:spPr>
          <a:xfrm>
            <a:off x="4663440" y="960120"/>
            <a:ext cx="4160520" cy="420624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9601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Discovery &amp; Management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73168" y="1536192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15361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FR-07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48640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jobs from multiple public sources 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73168" y="1984248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3168" y="2066544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206654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FR-08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4864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scraper runs daily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73168" y="2514600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2596896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47" name="Text 45"/>
          <p:cNvSpPr/>
          <p:nvPr/>
        </p:nvSpPr>
        <p:spPr>
          <a:xfrm>
            <a:off x="4773168" y="25968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FR-09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486400" y="2542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listings by company + title + location hash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73168" y="3044952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73168" y="3127248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51" name="Text 49"/>
          <p:cNvSpPr/>
          <p:nvPr/>
        </p:nvSpPr>
        <p:spPr>
          <a:xfrm>
            <a:off x="4773168" y="312724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FR-10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486400" y="3072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swipe card feed filtered by user preferences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73168" y="3575304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73168" y="3657600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55" name="Text 53"/>
          <p:cNvSpPr/>
          <p:nvPr/>
        </p:nvSpPr>
        <p:spPr>
          <a:xfrm>
            <a:off x="4773168" y="36576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FR-11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486400" y="36027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jobs by role, location, salary, remote/on-site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73168" y="4105656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73168" y="4187952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59" name="Text 57"/>
          <p:cNvSpPr/>
          <p:nvPr/>
        </p:nvSpPr>
        <p:spPr>
          <a:xfrm>
            <a:off x="4773168" y="41879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FR-12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486400" y="4133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job as stale after 7 days without re-verification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AI ENGINE &amp; APPLICATION 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NextStep AI  |  Parth Mahajan  |  2023BTCSE012  |  JLU08052  |  Project - 2  |  Presentation - 2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41605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4160520" cy="42062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9601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Generation Engine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554480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554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FR-13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481328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right-swipe trigger, call  API with user profile + job description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048256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176272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17627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FR-14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97280" y="2103120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tailored resume highlighting skills matching the JD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2670048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798064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79806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FR-15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97280" y="2724912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concise cover email (≤ 150 words, professional tone)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3291840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419856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4198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FR-16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97280" y="3346704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 to review and manually edit generated documents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" y="3913632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4041648"/>
            <a:ext cx="658368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04164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FR-17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97280" y="3968496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tailored resume as downloadable PDF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960120"/>
            <a:ext cx="41605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960120"/>
            <a:ext cx="4160520" cy="420624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9601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Flow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73168" y="1554480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1554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FR-18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0" y="1481328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apply redirects to job's direct ATS link 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73168" y="2084832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2212848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221284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FR-19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486400" y="2139696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email-apply jobs, open mail client with generated email pre-filled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73168" y="2743200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3168" y="2871216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287121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FR-20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486400" y="2798064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 status (applied / pending / rejected)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73168" y="3401568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3529584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47" name="Text 45"/>
          <p:cNvSpPr/>
          <p:nvPr/>
        </p:nvSpPr>
        <p:spPr>
          <a:xfrm>
            <a:off x="4773168" y="352958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FR-21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486400" y="3456432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user when a saved job is about to expire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73168" y="4059936"/>
            <a:ext cx="3931920" cy="0"/>
          </a:xfrm>
          <a:prstGeom prst="line">
            <a:avLst/>
          </a:prstGeom>
          <a:noFill/>
          <a:ln w="6350">
            <a:solidFill>
              <a:srgbClr val="E8ED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73168" y="4187952"/>
            <a:ext cx="658368" cy="2286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51" name="Text 49"/>
          <p:cNvSpPr/>
          <p:nvPr/>
        </p:nvSpPr>
        <p:spPr>
          <a:xfrm>
            <a:off x="4773168" y="41879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FR-22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486400" y="4114800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 of all applications with statuses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NextStep AI  |  Parth Mahajan  |  2023BTCSE012  |  JLU08052  |  Project - 2  |  Presentation - 2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960120"/>
            <a:ext cx="64008" cy="1783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9601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1536192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feed response &lt; 2 seconds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2065" y="1938528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17922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completes &lt; 10s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2065" y="2315954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21854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processes 500+ jobs/run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82112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2112" y="960120"/>
            <a:ext cx="2743200" cy="384048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2112" y="960120"/>
            <a:ext cx="64008" cy="1783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9601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76658" y="1527048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4" name="Text 22"/>
          <p:cNvSpPr/>
          <p:nvPr/>
        </p:nvSpPr>
        <p:spPr>
          <a:xfrm>
            <a:off x="3511296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REST API (horizontal scale)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67514" y="1897380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8" name="Text 26"/>
          <p:cNvSpPr/>
          <p:nvPr/>
        </p:nvSpPr>
        <p:spPr>
          <a:xfrm>
            <a:off x="3538728" y="1764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indexes on job title, location, date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9904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960120"/>
            <a:ext cx="27432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Shape 29"/>
          <p:cNvSpPr/>
          <p:nvPr/>
        </p:nvSpPr>
        <p:spPr>
          <a:xfrm>
            <a:off x="6089904" y="960120"/>
            <a:ext cx="64008" cy="1783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9601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54496" y="1517904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validity checked with last_verified 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54496" y="1922762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17922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jobs purged after 7 days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54496" y="2315954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38" name="Text 36"/>
          <p:cNvSpPr/>
          <p:nvPr/>
        </p:nvSpPr>
        <p:spPr>
          <a:xfrm>
            <a:off x="6419088" y="21854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retry on scraper failures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2880360"/>
            <a:ext cx="2743200" cy="384048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2880360"/>
            <a:ext cx="64008" cy="1783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2" name="Text 40"/>
          <p:cNvSpPr/>
          <p:nvPr/>
        </p:nvSpPr>
        <p:spPr>
          <a:xfrm>
            <a:off x="402336" y="28803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38912" y="3442716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4" name="Text 42"/>
          <p:cNvSpPr/>
          <p:nvPr/>
        </p:nvSpPr>
        <p:spPr>
          <a:xfrm>
            <a:off x="603504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4250" y="3835908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6" name="Text 44"/>
          <p:cNvSpPr/>
          <p:nvPr/>
        </p:nvSpPr>
        <p:spPr>
          <a:xfrm>
            <a:off x="603504" y="37124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stored in env variables only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38912" y="4229100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8" name="Text 46"/>
          <p:cNvSpPr/>
          <p:nvPr/>
        </p:nvSpPr>
        <p:spPr>
          <a:xfrm>
            <a:off x="603504" y="41056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session tokens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82112" y="2866644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182112" y="2880360"/>
            <a:ext cx="27432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1" name="Shape 49"/>
          <p:cNvSpPr/>
          <p:nvPr/>
        </p:nvSpPr>
        <p:spPr>
          <a:xfrm>
            <a:off x="3182112" y="2880360"/>
            <a:ext cx="64008" cy="1783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2" name="Text 50"/>
          <p:cNvSpPr/>
          <p:nvPr/>
        </p:nvSpPr>
        <p:spPr>
          <a:xfrm>
            <a:off x="3310128" y="28803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376658" y="3438144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6" name="Text 54"/>
          <p:cNvSpPr/>
          <p:nvPr/>
        </p:nvSpPr>
        <p:spPr>
          <a:xfrm>
            <a:off x="3531161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 &lt; 5 minutes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376658" y="3813048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8" name="Text 56"/>
          <p:cNvSpPr/>
          <p:nvPr/>
        </p:nvSpPr>
        <p:spPr>
          <a:xfrm>
            <a:off x="3510035" y="3674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flow requires ≤ 3 taps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089904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089904" y="2880360"/>
            <a:ext cx="2743200" cy="384048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61" name="Shape 59"/>
          <p:cNvSpPr/>
          <p:nvPr/>
        </p:nvSpPr>
        <p:spPr>
          <a:xfrm>
            <a:off x="6089904" y="2880360"/>
            <a:ext cx="64008" cy="1783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2" name="Text 60"/>
          <p:cNvSpPr/>
          <p:nvPr/>
        </p:nvSpPr>
        <p:spPr>
          <a:xfrm>
            <a:off x="6217920" y="28803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47402" y="3458797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4" name="Text 62"/>
          <p:cNvSpPr/>
          <p:nvPr/>
        </p:nvSpPr>
        <p:spPr>
          <a:xfrm>
            <a:off x="6419088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scraper interface (BaseScaper)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54496" y="3835908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6" name="Text 64"/>
          <p:cNvSpPr/>
          <p:nvPr/>
        </p:nvSpPr>
        <p:spPr>
          <a:xfrm>
            <a:off x="6419088" y="37124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AI generation pipeline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54496" y="4238244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8" name="Text 66"/>
          <p:cNvSpPr/>
          <p:nvPr/>
        </p:nvSpPr>
        <p:spPr>
          <a:xfrm>
            <a:off x="6419088" y="41056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documentation for all endpoints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NextStep AI  |  Parth Mahajan  |  2023BTCSE012  |  JLU08052  |  Project - 2  |  Presentation - 2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2423160"/>
            <a:ext cx="0" cy="59436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651760"/>
            <a:ext cx="50292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" y="3017520"/>
            <a:ext cx="0" cy="36576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" y="3017520"/>
            <a:ext cx="228600" cy="36576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43000" y="932688"/>
            <a:ext cx="6400800" cy="3794760"/>
          </a:xfrm>
          <a:prstGeom prst="rect">
            <a:avLst/>
          </a:prstGeom>
          <a:solidFill>
            <a:srgbClr val="F5F8FC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978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565C0"/>
                </a:solidFill>
              </a:rPr>
              <a:t>NextStep AI System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371600" y="1371600"/>
            <a:ext cx="1828800" cy="402336"/>
          </a:xfrm>
          <a:prstGeom prst="ellipse">
            <a:avLst/>
          </a:prstGeom>
          <a:solidFill>
            <a:srgbClr val="243D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1371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Register / Login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71600" y="1901952"/>
            <a:ext cx="1828800" cy="402336"/>
          </a:xfrm>
          <a:prstGeom prst="ellipse">
            <a:avLst/>
          </a:prstGeom>
          <a:solidFill>
            <a:srgbClr val="243D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19019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Upload Resume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0" y="2432304"/>
            <a:ext cx="1828800" cy="402336"/>
          </a:xfrm>
          <a:prstGeom prst="ellipse">
            <a:avLst/>
          </a:prstGeom>
          <a:solidFill>
            <a:srgbClr val="243D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24323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Set Preferences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371600" y="2962656"/>
            <a:ext cx="1828800" cy="402336"/>
          </a:xfrm>
          <a:prstGeom prst="ellipse">
            <a:avLst/>
          </a:prstGeom>
          <a:solidFill>
            <a:srgbClr val="243D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29626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Browse Job Feed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371600" y="3493008"/>
            <a:ext cx="1828800" cy="402336"/>
          </a:xfrm>
          <a:prstGeom prst="ellipse">
            <a:avLst/>
          </a:prstGeom>
          <a:solidFill>
            <a:srgbClr val="243D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34930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Swipe Right / Left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0" y="1371600"/>
            <a:ext cx="1828800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1371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Generate Resume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0" y="1901952"/>
            <a:ext cx="1828800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19019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Generate Email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2432304"/>
            <a:ext cx="1828800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24323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Preview Documents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0" y="2962656"/>
            <a:ext cx="1828800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29626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One-Click Apply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3493008"/>
            <a:ext cx="1828800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34930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Track Applications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2960" y="1572768"/>
            <a:ext cx="548640" cy="0"/>
          </a:xfrm>
          <a:prstGeom prst="line">
            <a:avLst/>
          </a:prstGeom>
          <a:noFill/>
          <a:ln w="12700">
            <a:solidFill>
              <a:srgbClr val="1A2E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103120"/>
            <a:ext cx="548640" cy="0"/>
          </a:xfrm>
          <a:prstGeom prst="line">
            <a:avLst/>
          </a:prstGeom>
          <a:noFill/>
          <a:ln w="12700">
            <a:solidFill>
              <a:srgbClr val="1A2E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2633472"/>
            <a:ext cx="548640" cy="0"/>
          </a:xfrm>
          <a:prstGeom prst="line">
            <a:avLst/>
          </a:prstGeom>
          <a:noFill/>
          <a:ln w="12700">
            <a:solidFill>
              <a:srgbClr val="1A2E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3163824"/>
            <a:ext cx="548640" cy="0"/>
          </a:xfrm>
          <a:prstGeom prst="line">
            <a:avLst/>
          </a:prstGeom>
          <a:noFill/>
          <a:ln w="12700">
            <a:solidFill>
              <a:srgbClr val="1A2E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3694176"/>
            <a:ext cx="548640" cy="0"/>
          </a:xfrm>
          <a:prstGeom prst="line">
            <a:avLst/>
          </a:prstGeom>
          <a:noFill/>
          <a:ln w="12700">
            <a:solidFill>
              <a:srgbClr val="1A2E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1572768"/>
            <a:ext cx="640080" cy="0"/>
          </a:xfrm>
          <a:prstGeom prst="line">
            <a:avLst/>
          </a:prstGeom>
          <a:noFill/>
          <a:ln w="12700">
            <a:solidFill>
              <a:srgbClr val="1E88E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3200400" y="2103120"/>
            <a:ext cx="640080" cy="0"/>
          </a:xfrm>
          <a:prstGeom prst="line">
            <a:avLst/>
          </a:prstGeom>
          <a:noFill/>
          <a:ln w="12700">
            <a:solidFill>
              <a:srgbClr val="1E88E5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3200400" y="2633472"/>
            <a:ext cx="640080" cy="0"/>
          </a:xfrm>
          <a:prstGeom prst="line">
            <a:avLst/>
          </a:prstGeom>
          <a:noFill/>
          <a:ln w="12700">
            <a:solidFill>
              <a:srgbClr val="1E88E5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035040" y="1371600"/>
            <a:ext cx="256032" cy="201168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6" name="Text 44"/>
          <p:cNvSpPr/>
          <p:nvPr/>
        </p:nvSpPr>
        <p:spPr>
          <a:xfrm>
            <a:off x="6345936" y="13716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168"/>
                </a:solidFill>
              </a:rPr>
              <a:t>Primary Use Cases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35040" y="1645920"/>
            <a:ext cx="256032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8" name="Text 46"/>
          <p:cNvSpPr/>
          <p:nvPr/>
        </p:nvSpPr>
        <p:spPr>
          <a:xfrm>
            <a:off x="6345936" y="16459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168"/>
                </a:solidFill>
              </a:rPr>
              <a:t>AI-Driven Use Cases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3-TIER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898346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NextStep AI  |  Parth Mahajan  |  2023BTCSE012  |  JLU08052  |  Project - 2  |  Presentation - 2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960120"/>
            <a:ext cx="26517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960120"/>
            <a:ext cx="265176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987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TIER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837944"/>
            <a:ext cx="146304" cy="14630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— Swipe Card 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58568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404872"/>
            <a:ext cx="146304" cy="14630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2585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Component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25496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971800"/>
            <a:ext cx="146304" cy="14630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8254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Dashboard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92424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538728"/>
            <a:ext cx="146304" cy="14630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3924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Preview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59352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4105656"/>
            <a:ext cx="146304" cy="14630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9593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Composer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960120"/>
            <a:ext cx="26517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64992" y="960120"/>
            <a:ext cx="265176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3456432" y="987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56432" y="1280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0" y="1691640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47872" y="1837944"/>
            <a:ext cx="146304" cy="146304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3767328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0" y="2258568"/>
            <a:ext cx="24231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47872" y="2404872"/>
            <a:ext cx="146304" cy="146304"/>
          </a:xfrm>
          <a:prstGeom prst="ellipse">
            <a:avLst/>
          </a:prstGeom>
          <a:solidFill>
            <a:srgbClr val="BBDEFB"/>
          </a:solidFill>
          <a:ln/>
        </p:spPr>
      </p:sp>
      <p:sp>
        <p:nvSpPr>
          <p:cNvPr id="37" name="Text 35"/>
          <p:cNvSpPr/>
          <p:nvPr/>
        </p:nvSpPr>
        <p:spPr>
          <a:xfrm>
            <a:off x="3767328" y="22585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2825496"/>
            <a:ext cx="24231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47872" y="2971800"/>
            <a:ext cx="146304" cy="146304"/>
          </a:xfrm>
          <a:prstGeom prst="ellipse">
            <a:avLst/>
          </a:prstGeom>
          <a:solidFill>
            <a:srgbClr val="BBDEFB"/>
          </a:solidFill>
          <a:ln/>
        </p:spPr>
      </p:sp>
      <p:sp>
        <p:nvSpPr>
          <p:cNvPr id="40" name="Text 38"/>
          <p:cNvSpPr/>
          <p:nvPr/>
        </p:nvSpPr>
        <p:spPr>
          <a:xfrm>
            <a:off x="3767328" y="28254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Service (API)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0" y="3392424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47872" y="3538728"/>
            <a:ext cx="146304" cy="146304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3767328" y="33924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Scrapers Module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4720" y="3959352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47872" y="4105656"/>
            <a:ext cx="146304" cy="146304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6" name="Text 44"/>
          <p:cNvSpPr/>
          <p:nvPr/>
        </p:nvSpPr>
        <p:spPr>
          <a:xfrm>
            <a:off x="3767328" y="39593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 Logic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73952" y="960120"/>
            <a:ext cx="26517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73952" y="960120"/>
            <a:ext cx="2651760" cy="59436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49" name="Text 47"/>
          <p:cNvSpPr/>
          <p:nvPr/>
        </p:nvSpPr>
        <p:spPr>
          <a:xfrm>
            <a:off x="6565392" y="987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65392" y="1280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583680" y="1691640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56832" y="1837944"/>
            <a:ext cx="146304" cy="14630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53" name="Text 51"/>
          <p:cNvSpPr/>
          <p:nvPr/>
        </p:nvSpPr>
        <p:spPr>
          <a:xfrm>
            <a:off x="6876288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83680" y="2258568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56832" y="2404872"/>
            <a:ext cx="146304" cy="14630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56" name="Text 54"/>
          <p:cNvSpPr/>
          <p:nvPr/>
        </p:nvSpPr>
        <p:spPr>
          <a:xfrm>
            <a:off x="6876288" y="22585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Listings Table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583680" y="2825496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56832" y="2971800"/>
            <a:ext cx="146304" cy="14630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59" name="Text 57"/>
          <p:cNvSpPr/>
          <p:nvPr/>
        </p:nvSpPr>
        <p:spPr>
          <a:xfrm>
            <a:off x="6876288" y="28254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 Table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583680" y="3392424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56832" y="3538728"/>
            <a:ext cx="146304" cy="14630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62" name="Text 60"/>
          <p:cNvSpPr/>
          <p:nvPr/>
        </p:nvSpPr>
        <p:spPr>
          <a:xfrm>
            <a:off x="6876288" y="33924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Table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583680" y="3959352"/>
            <a:ext cx="24231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56832" y="4105656"/>
            <a:ext cx="146304" cy="14630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65" name="Text 63"/>
          <p:cNvSpPr/>
          <p:nvPr/>
        </p:nvSpPr>
        <p:spPr>
          <a:xfrm>
            <a:off x="6876288" y="39593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Layer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907792" y="2834640"/>
            <a:ext cx="4572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80944" y="26334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65C0"/>
                </a:solidFill>
              </a:rPr>
              <a:t>⟺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016752" y="2834640"/>
            <a:ext cx="4572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89904" y="26334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65C0"/>
                </a:solidFill>
              </a:rPr>
              <a:t>⟺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(LEVEL 1)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NextStep AI  |  Parth Mahajan  |  2023BTCSE012  |  JLU08052  |  Project - 2  |  Presentation - 2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(LEVEL 1)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0" y="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NextStep AI  |  Parth Mahajan  |  2023BTCSE012  |  JLU08052  |  Project - 2  |  Presentation - 2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37160" y="1920239"/>
            <a:ext cx="1417320" cy="695245"/>
          </a:xfrm>
          <a:prstGeom prst="rect">
            <a:avLst/>
          </a:prstGeom>
          <a:solidFill>
            <a:srgbClr val="243D5C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" y="1956816"/>
            <a:ext cx="1327141" cy="614934"/>
          </a:xfrm>
          <a:prstGeom prst="rect">
            <a:avLst/>
          </a:prstGeom>
          <a:solidFill>
            <a:srgbClr val="00000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1920239"/>
            <a:ext cx="1363717" cy="74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DEFB"/>
                </a:solidFill>
              </a:rPr>
              <a:t>Job Boards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37160" y="3383280"/>
            <a:ext cx="914400" cy="594360"/>
          </a:xfrm>
          <a:prstGeom prst="rect">
            <a:avLst/>
          </a:prstGeom>
          <a:solidFill>
            <a:srgbClr val="243D5C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" y="3419856"/>
            <a:ext cx="841248" cy="521208"/>
          </a:xfrm>
          <a:prstGeom prst="rect">
            <a:avLst/>
          </a:prstGeom>
          <a:solidFill>
            <a:srgbClr val="00000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33832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DEFB"/>
                </a:solidFill>
              </a:rPr>
              <a:t>User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89520" y="2103120"/>
            <a:ext cx="1234440" cy="640080"/>
          </a:xfrm>
          <a:prstGeom prst="rect">
            <a:avLst/>
          </a:prstGeom>
          <a:solidFill>
            <a:srgbClr val="243D5C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6096" y="2139696"/>
            <a:ext cx="11612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BBDEFB"/>
                </a:solidFill>
              </a:rPr>
              <a:t>Groq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BDEFB"/>
                </a:solidFill>
              </a:rPr>
              <a:t>AI API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48840" y="1572768"/>
            <a:ext cx="1196603" cy="978395"/>
          </a:xfrm>
          <a:prstGeom prst="ellipse">
            <a:avLst/>
          </a:prstGeom>
          <a:solidFill>
            <a:srgbClr val="1565C0"/>
          </a:solidFill>
          <a:ln w="19050">
            <a:solidFill>
              <a:srgbClr val="BBDE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06162" y="1490471"/>
            <a:ext cx="1422838" cy="108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1.0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Scraper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Engine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94760" y="1572768"/>
            <a:ext cx="1177684" cy="941828"/>
          </a:xfrm>
          <a:prstGeom prst="ellipse">
            <a:avLst/>
          </a:prstGeom>
          <a:solidFill>
            <a:srgbClr val="1565C0"/>
          </a:solidFill>
          <a:ln w="19050">
            <a:solidFill>
              <a:srgbClr val="BBD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1463039"/>
            <a:ext cx="1417320" cy="1115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2.0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Job Feed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Manager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0" y="1572768"/>
            <a:ext cx="1280160" cy="100584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BBDE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57276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3.0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AI Engine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94760" y="3154680"/>
            <a:ext cx="1280160" cy="100584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BBDE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1546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4.0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Application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Manager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2743200"/>
            <a:ext cx="214884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8FA3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2743200"/>
            <a:ext cx="0" cy="347472"/>
          </a:xfrm>
          <a:prstGeom prst="line">
            <a:avLst/>
          </a:prstGeom>
          <a:noFill/>
          <a:ln w="12700">
            <a:solidFill>
              <a:srgbClr val="8FA3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8144" y="27432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BE"/>
                </a:solidFill>
              </a:rPr>
              <a:t>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95344" y="2743200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</a:rPr>
              <a:t>Jobs DB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83280" y="4251960"/>
            <a:ext cx="214884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8FA3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0" y="4251960"/>
            <a:ext cx="0" cy="347472"/>
          </a:xfrm>
          <a:prstGeom prst="line">
            <a:avLst/>
          </a:prstGeom>
          <a:noFill/>
          <a:ln w="12700">
            <a:solidFill>
              <a:srgbClr val="8FA3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38144" y="4251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FA3BE"/>
                </a:solidFill>
              </a:rPr>
              <a:t>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95344" y="4251960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</a:rPr>
              <a:t>User Profile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30943" y="2304288"/>
            <a:ext cx="457200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10903" y="20528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Raw Job Data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345443" y="2043682"/>
            <a:ext cx="449317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2002" y="1591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</a:rPr>
              <a:t>Cleaned Jobs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72444" y="2075688"/>
            <a:ext cx="513956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1847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JD + Profile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766560" y="2075688"/>
            <a:ext cx="822960" cy="347472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21122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AI Prompt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589520" y="2423160"/>
            <a:ext cx="0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1560" y="3675888"/>
            <a:ext cx="2743200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74520" y="3483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Swipe + Prefs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74920" y="3566160"/>
            <a:ext cx="411480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2020" y="29352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Right Swipe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434840" y="2743200"/>
            <a:ext cx="0" cy="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34840" y="4160520"/>
            <a:ext cx="0" cy="91440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3BA5F7B-29FE-F9ED-99B0-0667B4CAC2D7}"/>
              </a:ext>
            </a:extLst>
          </p:cNvPr>
          <p:cNvCxnSpPr>
            <a:cxnSpLocks/>
          </p:cNvCxnSpPr>
          <p:nvPr/>
        </p:nvCxnSpPr>
        <p:spPr>
          <a:xfrm>
            <a:off x="1484087" y="2297193"/>
            <a:ext cx="735146" cy="386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— ENTITY RELATIONSHIP OVERVIEW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E"/>
                </a:solidFill>
              </a:rPr>
              <a:t>NextStep AI  |  Parth Mahajan  |  2023BTCSE012  |  JLU08052  |  Project - 2  |  Presentation - 2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256032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960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344168"/>
            <a:ext cx="256032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344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🔑 id (PK)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636776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6367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929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221992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221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514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816352"/>
            <a:ext cx="2560320" cy="23042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16352"/>
            <a:ext cx="256032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163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user_profiles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256032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200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🔑 id (PK)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493008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4930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(FK→users)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7856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[]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078224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078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370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663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base_resume_path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960120"/>
            <a:ext cx="2560320" cy="318211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960120"/>
            <a:ext cx="256032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960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37560" y="1344168"/>
            <a:ext cx="256032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1344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🔑 id (PK)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37560" y="1636776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0" y="16367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0" y="1929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2221992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0" y="2221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74720" y="2514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37560" y="2807208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5" name="Text 43"/>
          <p:cNvSpPr/>
          <p:nvPr/>
        </p:nvSpPr>
        <p:spPr>
          <a:xfrm>
            <a:off x="3474720" y="28072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0" y="30998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apply_url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37560" y="3392424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8" name="Text 46"/>
          <p:cNvSpPr/>
          <p:nvPr/>
        </p:nvSpPr>
        <p:spPr>
          <a:xfrm>
            <a:off x="3474720" y="33924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scraped_at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74720" y="36850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last_verified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37560" y="32004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337560" y="3200400"/>
            <a:ext cx="256032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2" name="Text 50"/>
          <p:cNvSpPr/>
          <p:nvPr/>
        </p:nvSpPr>
        <p:spPr>
          <a:xfrm>
            <a:off x="3429000" y="3200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337560" y="3584448"/>
            <a:ext cx="256032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4" name="Text 52"/>
          <p:cNvSpPr/>
          <p:nvPr/>
        </p:nvSpPr>
        <p:spPr>
          <a:xfrm>
            <a:off x="3429000" y="3584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🔑 id (PK)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337560" y="3877056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56" name="Text 54"/>
          <p:cNvSpPr/>
          <p:nvPr/>
        </p:nvSpPr>
        <p:spPr>
          <a:xfrm>
            <a:off x="3474720" y="38770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(FK→users)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474720" y="41696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 (FK→jobs)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37560" y="4462272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59" name="Text 57"/>
          <p:cNvSpPr/>
          <p:nvPr/>
        </p:nvSpPr>
        <p:spPr>
          <a:xfrm>
            <a:off x="3474720" y="44622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474720" y="4754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applied_at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00800" y="960120"/>
            <a:ext cx="2560320" cy="23042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00800" y="960120"/>
            <a:ext cx="256032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960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generated_docs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400800" y="1344168"/>
            <a:ext cx="256032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5" name="Text 63"/>
          <p:cNvSpPr/>
          <p:nvPr/>
        </p:nvSpPr>
        <p:spPr>
          <a:xfrm>
            <a:off x="6492240" y="1344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🔑 id (PK)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400800" y="1636776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67" name="Text 65"/>
          <p:cNvSpPr/>
          <p:nvPr/>
        </p:nvSpPr>
        <p:spPr>
          <a:xfrm>
            <a:off x="6537960" y="16367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(FK)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37960" y="19293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resume_text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00800" y="2221992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70" name="Text 68"/>
          <p:cNvSpPr/>
          <p:nvPr/>
        </p:nvSpPr>
        <p:spPr>
          <a:xfrm>
            <a:off x="6537960" y="2221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email_text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537960" y="2514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pdf_path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400800" y="2807208"/>
            <a:ext cx="256032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73" name="Text 71"/>
          <p:cNvSpPr/>
          <p:nvPr/>
        </p:nvSpPr>
        <p:spPr>
          <a:xfrm>
            <a:off x="6537960" y="28072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05840" y="1783080"/>
            <a:ext cx="0" cy="1033272"/>
          </a:xfrm>
          <a:prstGeom prst="line">
            <a:avLst/>
          </a:prstGeom>
          <a:noFill/>
          <a:ln w="15240">
            <a:solidFill>
              <a:srgbClr val="1565C0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841248" y="2208276"/>
            <a:ext cx="329184" cy="21945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6" name="Text 74"/>
          <p:cNvSpPr/>
          <p:nvPr/>
        </p:nvSpPr>
        <p:spPr>
          <a:xfrm>
            <a:off x="841248" y="220827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1:1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834640" y="1463040"/>
            <a:ext cx="50292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2834640" y="3520440"/>
            <a:ext cx="50292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2921508" y="3429000"/>
            <a:ext cx="329184" cy="21945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0" name="Text 78"/>
          <p:cNvSpPr/>
          <p:nvPr/>
        </p:nvSpPr>
        <p:spPr>
          <a:xfrm>
            <a:off x="2921508" y="342900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M:N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897880" y="3520440"/>
            <a:ext cx="50292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5984748" y="2628900"/>
            <a:ext cx="329184" cy="21945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3" name="Text 81"/>
          <p:cNvSpPr/>
          <p:nvPr/>
        </p:nvSpPr>
        <p:spPr>
          <a:xfrm>
            <a:off x="5984748" y="262890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1:1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0"/>
            <a:ext cx="4572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0" y="457200"/>
            <a:ext cx="1645920" cy="164592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3017520"/>
            <a:ext cx="2011680" cy="2011680"/>
          </a:xfrm>
          <a:prstGeom prst="ellipse">
            <a:avLst/>
          </a:prstGeom>
          <a:solidFill>
            <a:srgbClr val="1E88E5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972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NextStep AI — Smarter job hunting powered by AI.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852928"/>
            <a:ext cx="54864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28529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Functional Requirements across 4 modules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236976"/>
            <a:ext cx="54864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32369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Non-Functional Requirements (Performance, Security, Scalability…)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621024"/>
            <a:ext cx="54864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36210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Architecture: React → Django → PostgreSQL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54864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40050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Engine: Claude API for resume &amp; email generation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389120"/>
            <a:ext cx="54864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" y="43891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5-table DB schema with full relational mapping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1828800" cy="41148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663440"/>
            <a:ext cx="54864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663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BDEFB"/>
                </a:solidFill>
              </a:rPr>
              <a:t>Name: Parth Mahajan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0" y="4663440"/>
            <a:ext cx="1828800" cy="41148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4663440"/>
            <a:ext cx="54864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2423160" y="4663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BDEFB"/>
                </a:solidFill>
              </a:rPr>
              <a:t>Roll No: 2023BTCSE012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97680" y="4663440"/>
            <a:ext cx="1828800" cy="41148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28" name="Shape 26"/>
          <p:cNvSpPr/>
          <p:nvPr/>
        </p:nvSpPr>
        <p:spPr>
          <a:xfrm>
            <a:off x="4297680" y="4663440"/>
            <a:ext cx="54864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4434840" y="4663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BDEFB"/>
                </a:solidFill>
              </a:rPr>
              <a:t>JLU ID: JLU08052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1004</Words>
  <Application>Microsoft Office PowerPoint</Application>
  <PresentationFormat>On-screen Show (16:9)</PresentationFormat>
  <Paragraphs>249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NextStep AI — Presentation 2: Requirements &amp; System Design</dc:title>
  <dc:subject>PptxGenJS Presentation</dc:subject>
  <dc:creator>PptxGenJS</dc:creator>
  <cp:lastModifiedBy>Parth Mahajan</cp:lastModifiedBy>
  <cp:revision>3</cp:revision>
  <dcterms:created xsi:type="dcterms:W3CDTF">2026-03-05T17:44:02Z</dcterms:created>
  <dcterms:modified xsi:type="dcterms:W3CDTF">2026-03-05T18:04:02Z</dcterms:modified>
</cp:coreProperties>
</file>